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33688F30-657C-452E-895A-500CCD3CED98}">
          <p14:sldIdLst>
            <p14:sldId id="268"/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Untitled Section" id="{71E6E496-517B-47BA-9EB8-B525C647B640}">
          <p14:sldIdLst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265" autoAdjust="0"/>
  </p:normalViewPr>
  <p:slideViewPr>
    <p:cSldViewPr snapToGrid="0" snapToObjects="1">
      <p:cViewPr varScale="1">
        <p:scale>
          <a:sx n="60" d="100"/>
          <a:sy n="60" d="100"/>
        </p:scale>
        <p:origin x="42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6749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501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Уважаема комисия, уважаема г-жо директор,</a:t>
            </a:r>
            <a:br>
              <a:rPr lang="ru-RU" dirty="0" smtClean="0"/>
            </a:br>
            <a:r>
              <a:rPr lang="ru-RU" dirty="0" smtClean="0"/>
              <a:t>казвам се Евгений Перетятко и днес ще ви представя моя дипломен проект на тема</a:t>
            </a:r>
            <a:br>
              <a:rPr lang="ru-RU" dirty="0" smtClean="0"/>
            </a:br>
            <a:r>
              <a:rPr lang="ru-RU" dirty="0" smtClean="0"/>
              <a:t>„Конвертор на изображения и воден знак“, известен още като Batch Image Processor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В съвременната дигитална среда изображенията играят ключова роля в уеб приложенията, маркетинга и дигиталното съдържание.</a:t>
            </a:r>
            <a:br>
              <a:rPr lang="ru-RU" dirty="0" smtClean="0"/>
            </a:br>
            <a:r>
              <a:rPr lang="ru-RU" dirty="0" smtClean="0"/>
              <a:t>Често се налага обработка на голям брой файлове, което при ръчен подход е бавно и податливо на грешки.</a:t>
            </a:r>
            <a:br>
              <a:rPr lang="ru-RU" dirty="0" smtClean="0"/>
            </a:br>
            <a:r>
              <a:rPr lang="ru-RU" dirty="0" smtClean="0"/>
              <a:t>Това налага използването на автоматизирани решения, които оптимизират процеса и повишават ефективността.</a:t>
            </a:r>
            <a:br>
              <a:rPr lang="ru-RU" dirty="0" smtClean="0"/>
            </a:br>
            <a:r>
              <a:rPr lang="ru-RU" dirty="0" smtClean="0"/>
              <a:t>Водните знаци също имат важно значение за защита на авторските права.</a:t>
            </a:r>
            <a:endParaRPr lang="bg-BG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Основната цел на проекта е разработването на уеб приложение,</a:t>
            </a:r>
            <a:br>
              <a:rPr lang="ru-RU" dirty="0" smtClean="0"/>
            </a:br>
            <a:r>
              <a:rPr lang="ru-RU" dirty="0" smtClean="0"/>
              <a:t>което позволява пакетна обработка на изображения.</a:t>
            </a:r>
            <a:br>
              <a:rPr lang="ru-RU" dirty="0" smtClean="0"/>
            </a:br>
            <a:r>
              <a:rPr lang="ru-RU" dirty="0" smtClean="0"/>
              <a:t>Системата предоставя функционалности за оразмеряване, добавяне на воден знак</a:t>
            </a:r>
            <a:br>
              <a:rPr lang="ru-RU" dirty="0" smtClean="0"/>
            </a:br>
            <a:r>
              <a:rPr lang="ru-RU" dirty="0" smtClean="0"/>
              <a:t>и конвертиране в различни формати, като крайният резултат се предоставя за изтегляне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Реализираната система предлага възможност за качване на множество изображения едновременно.</a:t>
            </a:r>
            <a:br>
              <a:rPr lang="ru-RU" dirty="0" smtClean="0"/>
            </a:br>
            <a:r>
              <a:rPr lang="ru-RU" dirty="0" smtClean="0"/>
              <a:t>Те се обработват автоматично чрез зададени параметри, включително оразмеряване до стандартна резолюция и добавяне на воден знак.</a:t>
            </a:r>
            <a:br>
              <a:rPr lang="ru-RU" dirty="0" smtClean="0"/>
            </a:br>
            <a:r>
              <a:rPr lang="ru-RU" dirty="0" smtClean="0"/>
              <a:t>Поддържа се избор на формат и генериране на ZIP архив, съдържащ всички обработени файлове.</a:t>
            </a:r>
            <a:br>
              <a:rPr lang="ru-RU" dirty="0" smtClean="0"/>
            </a:br>
            <a:r>
              <a:rPr lang="ru-RU" dirty="0" smtClean="0"/>
              <a:t>Това елиминира необходимостта от ръчна намеса.</a:t>
            </a:r>
            <a:endParaRPr lang="bg-BG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Потребителят предоставя входни данни под формата на изображения във формат JPG или PNG.</a:t>
            </a:r>
            <a:br>
              <a:rPr lang="ru-RU" dirty="0" smtClean="0"/>
            </a:br>
            <a:r>
              <a:rPr lang="ru-RU" dirty="0" smtClean="0"/>
              <a:t>Системата позволява конфигуриране на различни параметри като размер, режим на мащабиране и настройки за воден знак.</a:t>
            </a:r>
            <a:br>
              <a:rPr lang="ru-RU" dirty="0" smtClean="0"/>
            </a:br>
            <a:r>
              <a:rPr lang="ru-RU" dirty="0" smtClean="0"/>
              <a:t>Допълнително може да се избере изходен формат и качество, което осигурява гъвкавост при обработката.</a:t>
            </a:r>
            <a:endParaRPr lang="bg-BG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Водният знак може да бъде реализиран като текст или графично изображение.</a:t>
            </a:r>
            <a:br>
              <a:rPr lang="ru-RU" dirty="0" smtClean="0"/>
            </a:br>
            <a:r>
              <a:rPr lang="ru-RU" dirty="0" smtClean="0"/>
              <a:t>Потребителят разполага с контрол върху позицията, прозрачността и визуалните характеристики.</a:t>
            </a:r>
            <a:br>
              <a:rPr lang="ru-RU" dirty="0" smtClean="0"/>
            </a:br>
            <a:r>
              <a:rPr lang="ru-RU" dirty="0" smtClean="0"/>
              <a:t>Тази функционалност има основно приложение при защита на съдържание и брандиране.</a:t>
            </a:r>
            <a:endParaRPr lang="bg-BG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dirty="0" smtClean="0"/>
              <a:t>За реализацията на проекта е използван програмният език </a:t>
            </a:r>
            <a:r>
              <a:rPr lang="en-US" dirty="0" smtClean="0"/>
              <a:t>Python.</a:t>
            </a:r>
            <a:br>
              <a:rPr lang="en-US" dirty="0" smtClean="0"/>
            </a:br>
            <a:r>
              <a:rPr lang="bg-BG" dirty="0" smtClean="0"/>
              <a:t>Сървърната логика е изградена чрез </a:t>
            </a:r>
            <a:r>
              <a:rPr lang="en-US" dirty="0" smtClean="0"/>
              <a:t>Django framework,</a:t>
            </a:r>
            <a:br>
              <a:rPr lang="en-US" dirty="0" smtClean="0"/>
            </a:br>
            <a:r>
              <a:rPr lang="bg-BG" dirty="0" smtClean="0"/>
              <a:t>а библиотеката </a:t>
            </a:r>
            <a:r>
              <a:rPr lang="en-US" dirty="0" smtClean="0"/>
              <a:t>Pillow </a:t>
            </a:r>
            <a:r>
              <a:rPr lang="bg-BG" dirty="0" smtClean="0"/>
              <a:t>се използва за обработка на изображения.</a:t>
            </a:r>
            <a:br>
              <a:rPr lang="bg-BG" dirty="0" smtClean="0"/>
            </a:br>
            <a:r>
              <a:rPr lang="bg-BG" dirty="0" smtClean="0"/>
              <a:t>Потребителският интерфейс е реализиран чрез </a:t>
            </a:r>
            <a:r>
              <a:rPr lang="en-US" dirty="0" smtClean="0"/>
              <a:t>HTML, CSS </a:t>
            </a:r>
            <a:r>
              <a:rPr lang="bg-BG" dirty="0" smtClean="0"/>
              <a:t>и </a:t>
            </a:r>
            <a:r>
              <a:rPr lang="en-US" dirty="0" smtClean="0"/>
              <a:t>JavaScript.</a:t>
            </a:r>
            <a:br>
              <a:rPr lang="en-US" dirty="0" smtClean="0"/>
            </a:br>
            <a:r>
              <a:rPr lang="bg-BG" dirty="0" smtClean="0"/>
              <a:t>Избраните технологии осигуряват надеждност и разширяемост.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Процесът започва с качване на изображения от страна на потребителя.</a:t>
            </a:r>
            <a:br>
              <a:rPr lang="ru-RU" dirty="0" smtClean="0"/>
            </a:br>
            <a:r>
              <a:rPr lang="ru-RU" dirty="0" smtClean="0"/>
              <a:t>След това те се обработват на сървъра, където се прилагат избраните настройки.</a:t>
            </a:r>
            <a:br>
              <a:rPr lang="ru-RU" dirty="0" smtClean="0"/>
            </a:br>
            <a:r>
              <a:rPr lang="ru-RU" dirty="0" smtClean="0"/>
              <a:t>Включват се операции като оразмеряване и добавяне на воден знак.</a:t>
            </a:r>
            <a:br>
              <a:rPr lang="ru-RU" dirty="0" smtClean="0"/>
            </a:br>
            <a:r>
              <a:rPr lang="ru-RU" dirty="0" smtClean="0"/>
              <a:t>В края се генерира ZIP архив, който потребителят може да изтегли.</a:t>
            </a:r>
            <a:endParaRPr lang="bg-BG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За да се гарантира надеждната работа на системата, е реализирана валидация на входните данни.</a:t>
            </a:r>
            <a:br>
              <a:rPr lang="ru-RU" dirty="0" smtClean="0"/>
            </a:br>
            <a:r>
              <a:rPr lang="ru-RU" dirty="0" smtClean="0"/>
              <a:t>Проверяват се форматът и размерът на файловете, както и тяхната цялост.</a:t>
            </a:r>
            <a:br>
              <a:rPr lang="ru-RU" dirty="0" smtClean="0"/>
            </a:br>
            <a:r>
              <a:rPr lang="ru-RU" dirty="0" smtClean="0"/>
              <a:t>При възникване на грешки системата предоставя ясни съобщения към потребителя.</a:t>
            </a:r>
            <a:br>
              <a:rPr lang="ru-RU" dirty="0" smtClean="0"/>
            </a:br>
            <a:r>
              <a:rPr lang="ru-RU" dirty="0" smtClean="0"/>
              <a:t>Това повишава стабилността и сигурността на приложението.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В резултат на обработката всички изображения са приведени към зададените параметри.</a:t>
            </a:r>
            <a:br>
              <a:rPr lang="ru-RU" dirty="0" smtClean="0"/>
            </a:br>
            <a:r>
              <a:rPr lang="ru-RU" dirty="0" smtClean="0"/>
              <a:t>Върху тях е приложен воден знак и са конвертирани в избрания формат.</a:t>
            </a:r>
            <a:br>
              <a:rPr lang="ru-RU" dirty="0" smtClean="0"/>
            </a:br>
            <a:r>
              <a:rPr lang="ru-RU" dirty="0" smtClean="0"/>
              <a:t>Системата генерира архив с всички готови файлове, който се предоставя за изтегляне.</a:t>
            </a:r>
            <a:br>
              <a:rPr lang="ru-RU" dirty="0" smtClean="0"/>
            </a:br>
            <a:r>
              <a:rPr lang="ru-RU" dirty="0" smtClean="0"/>
              <a:t>Процесът е бърз, ефективен и напълно автоматизиран.</a:t>
            </a:r>
            <a:endParaRPr lang="bg-BG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При демонстрацията могат да бъдат показани основните етапи от работата на системата.</a:t>
            </a:r>
            <a:br>
              <a:rPr lang="ru-RU" dirty="0" smtClean="0"/>
            </a:br>
            <a:r>
              <a:rPr lang="ru-RU" dirty="0" smtClean="0"/>
              <a:t>Това включва качване на изображения, избор на настройки, процес на обработка</a:t>
            </a:r>
            <a:br>
              <a:rPr lang="ru-RU" dirty="0" smtClean="0"/>
            </a:br>
            <a:r>
              <a:rPr lang="ru-RU" dirty="0" smtClean="0"/>
              <a:t>и визуализация на крайния резултат.</a:t>
            </a:r>
            <a:br>
              <a:rPr lang="ru-RU" dirty="0" smtClean="0"/>
            </a:br>
            <a:r>
              <a:rPr lang="ru-RU" dirty="0" smtClean="0"/>
              <a:t>Това потвърждава практическата приложимост на разработката.</a:t>
            </a:r>
            <a:endParaRPr lang="bg-BG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В заключение, проектът демонстрира успешно разработване на уеб базирана система за обработка на изображения.</a:t>
            </a:r>
            <a:br>
              <a:rPr lang="ru-RU" dirty="0" smtClean="0"/>
            </a:br>
            <a:r>
              <a:rPr lang="ru-RU" dirty="0" smtClean="0"/>
              <a:t>Постигната е висока степен на автоматизация, която улеснява работата на потребителите.</a:t>
            </a:r>
            <a:br>
              <a:rPr lang="ru-RU" dirty="0" smtClean="0"/>
            </a:br>
            <a:r>
              <a:rPr lang="ru-RU" dirty="0" smtClean="0"/>
              <a:t>Системата има реално приложение и потенциал за бъдещо развитие.</a:t>
            </a:r>
            <a:br>
              <a:rPr lang="ru-RU" dirty="0" smtClean="0"/>
            </a:br>
            <a:r>
              <a:rPr lang="ru-RU" dirty="0" smtClean="0"/>
              <a:t>Благодаря за вниманието. Готов съм да отговоря на вашите въпроси.</a:t>
            </a:r>
            <a:endParaRPr lang="bg-BG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E"/>
          </a:solidFill>
          <a:ln>
            <a:solidFill>
              <a:srgbClr val="121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37160" cy="438912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Конвертор на изображения
и воден знак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8C8C8"/>
                </a:solidFill>
              </a:rPr>
              <a:t>Уеб приложение за автоматична обработка на изображения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926080"/>
            <a:ext cx="7772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BEBEB"/>
                </a:solidFill>
              </a:rPr>
              <a:t>ДЪРЖАВЕН ИЗПИТ ЗА ПРИДОБИВАНЕ НА</a:t>
            </a:r>
          </a:p>
          <a:p>
            <a:r>
              <a:rPr sz="1300" b="1">
                <a:solidFill>
                  <a:srgbClr val="EBEBEB"/>
                </a:solidFill>
              </a:rPr>
              <a:t>ТРЕТА СТЕПЕН НА ПРОФЕСИОНАЛНА КВАЛИФИКАЦИЯ</a:t>
            </a:r>
          </a:p>
          <a:p>
            <a:r>
              <a:rPr sz="1300" b="0">
                <a:solidFill>
                  <a:srgbClr val="EBEBEB"/>
                </a:solidFill>
              </a:rPr>
              <a:t>ЧАСТ ПО ТЕОРИЯ НА ПРОФЕСИЯТА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D2D2D2"/>
                </a:solidFill>
              </a:rPr>
              <a:t>Изготвил: Евгений Перетятько
Ръководител-консултант: Георги Бориков
ПГЕЕ – Банско | 2026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000" y="-49938"/>
            <a:ext cx="1408354" cy="140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59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resentation_graphic_design_backgro_batch_3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5493" y="1330367"/>
            <a:ext cx="6406127" cy="93712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5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Конвертор на изображения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5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 воден знак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768096" y="2697480"/>
            <a:ext cx="1783080" cy="0"/>
          </a:xfrm>
          <a:prstGeom prst="line">
            <a:avLst/>
          </a:prstGeom>
          <a:noFill/>
          <a:ln w="50800">
            <a:solidFill>
              <a:srgbClr val="E048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2944368"/>
            <a:ext cx="3840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6E1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Image Processor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68096" y="5559552"/>
            <a:ext cx="6583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Казвам се Евгений Перетятко и ще ви представя моя дипломен проект.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133856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AE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Rectangle 11"/>
          <p:cNvSpPr/>
          <p:nvPr/>
        </p:nvSpPr>
        <p:spPr>
          <a:xfrm>
            <a:off x="2914035" y="109084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bg-BG" sz="1200" b="1" i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ДЪРЖАВЕН ИЗПИТ ЗА ПРИДОБИВАНЕ НА ТРЕТА СТЕПЕН НА ПРОФЕСИОНАЛНА КВАЛИФИКАЦИЯ – ЧАСТ ПО ТЕОРИЯ НА ПРОФЕСИЯТА</a:t>
            </a:r>
            <a:endParaRPr lang="bg-BG" sz="1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2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3152" y="0"/>
            <a:ext cx="347472" cy="960120"/>
          </a:xfrm>
          <a:prstGeom prst="rect">
            <a:avLst/>
          </a:prstGeom>
          <a:solidFill>
            <a:srgbClr val="C5161D"/>
          </a:solidFill>
          <a:ln w="12700">
            <a:solidFill>
              <a:srgbClr val="C51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31101"/>
            <a:ext cx="2227445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5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Въведение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106424"/>
            <a:ext cx="1143000" cy="0"/>
          </a:xfrm>
          <a:prstGeom prst="line">
            <a:avLst/>
          </a:prstGeom>
          <a:noFill/>
          <a:ln w="38100">
            <a:solidFill>
              <a:srgbClr val="E048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52728"/>
            <a:ext cx="5623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DD9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Защо е нужна автоматична обработка на изображения</a:t>
            </a:r>
            <a:endParaRPr lang="en-US" sz="1500" dirty="0"/>
          </a:p>
        </p:txBody>
      </p:sp>
      <p:pic>
        <p:nvPicPr>
          <p:cNvPr id="6" name="Image 0" descr="/mnt/data/pptx_extract/ppt/media/image6.png"/>
          <p:cNvPicPr>
            <a:picLocks noChangeAspect="1"/>
          </p:cNvPicPr>
          <p:nvPr/>
        </p:nvPicPr>
        <p:blipFill>
          <a:blip r:embed="rId3"/>
          <a:srcRect l="2000" t="10000" r="-12847" b="12000"/>
          <a:stretch/>
        </p:blipFill>
        <p:spPr>
          <a:xfrm>
            <a:off x="6720840" y="1207008"/>
            <a:ext cx="4389120" cy="2971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" y="1993392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1874520"/>
            <a:ext cx="502920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92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Изображенията са важна част от съвременните уеб приложения.</a:t>
            </a:r>
            <a:endParaRPr lang="en-US" sz="1920" dirty="0"/>
          </a:p>
        </p:txBody>
      </p:sp>
      <p:sp>
        <p:nvSpPr>
          <p:cNvPr id="9" name="Shape 6"/>
          <p:cNvSpPr/>
          <p:nvPr/>
        </p:nvSpPr>
        <p:spPr>
          <a:xfrm>
            <a:off x="804672" y="2651760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8992" y="2532888"/>
            <a:ext cx="502920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92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Често трябва да се обработват много файлове едновременно.</a:t>
            </a:r>
            <a:endParaRPr lang="en-US" sz="1920" dirty="0"/>
          </a:p>
        </p:txBody>
      </p:sp>
      <p:sp>
        <p:nvSpPr>
          <p:cNvPr id="11" name="Shape 8"/>
          <p:cNvSpPr/>
          <p:nvPr/>
        </p:nvSpPr>
        <p:spPr>
          <a:xfrm>
            <a:off x="804672" y="3310128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3191256"/>
            <a:ext cx="502920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92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Автоматизацията спестява време и намалява човешките грешки.</a:t>
            </a:r>
            <a:endParaRPr lang="en-US" sz="1920" dirty="0"/>
          </a:p>
        </p:txBody>
      </p:sp>
      <p:sp>
        <p:nvSpPr>
          <p:cNvPr id="13" name="Shape 10"/>
          <p:cNvSpPr/>
          <p:nvPr/>
        </p:nvSpPr>
        <p:spPr>
          <a:xfrm>
            <a:off x="804672" y="3968496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3849624"/>
            <a:ext cx="502920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92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Водният знак помага за защита на авторските права.</a:t>
            </a:r>
            <a:endParaRPr lang="en-US" sz="1920" dirty="0"/>
          </a:p>
        </p:txBody>
      </p:sp>
      <p:sp>
        <p:nvSpPr>
          <p:cNvPr id="15" name="Shape 12"/>
          <p:cNvSpPr/>
          <p:nvPr/>
        </p:nvSpPr>
        <p:spPr>
          <a:xfrm>
            <a:off x="6720840" y="4526280"/>
            <a:ext cx="4389120" cy="804672"/>
          </a:xfrm>
          <a:prstGeom prst="roundRect">
            <a:avLst/>
          </a:prstGeom>
          <a:solidFill>
            <a:srgbClr val="073C46">
              <a:alpha val="92000"/>
            </a:srgbClr>
          </a:solidFill>
          <a:ln w="12700">
            <a:solidFill>
              <a:srgbClr val="2C7E87">
                <a:alpha val="3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40296" y="4672584"/>
            <a:ext cx="395020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Проектът е полезен за бизнес, маркетинг, дизайн и онлайн съдържание.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33856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AE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2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3152" y="0"/>
            <a:ext cx="347472" cy="960120"/>
          </a:xfrm>
          <a:prstGeom prst="rect">
            <a:avLst/>
          </a:prstGeom>
          <a:solidFill>
            <a:srgbClr val="C5161D"/>
          </a:solidFill>
          <a:ln w="12700">
            <a:solidFill>
              <a:srgbClr val="C51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56235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5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Цел на проекта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106424"/>
            <a:ext cx="1143000" cy="0"/>
          </a:xfrm>
          <a:prstGeom prst="line">
            <a:avLst/>
          </a:prstGeom>
          <a:noFill/>
          <a:ln w="38100">
            <a:solidFill>
              <a:srgbClr val="E048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52728"/>
            <a:ext cx="5623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DD9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Какво трябва да реализира приложението</a:t>
            </a:r>
            <a:endParaRPr lang="en-US" sz="1500" dirty="0"/>
          </a:p>
        </p:txBody>
      </p:sp>
      <p:pic>
        <p:nvPicPr>
          <p:cNvPr id="6" name="Image 0" descr="/mnt/data/pptx_extract/ppt/media/image7.png"/>
          <p:cNvPicPr>
            <a:picLocks noChangeAspect="1"/>
          </p:cNvPicPr>
          <p:nvPr/>
        </p:nvPicPr>
        <p:blipFill>
          <a:blip r:embed="rId3"/>
          <a:srcRect r="7131"/>
          <a:stretch/>
        </p:blipFill>
        <p:spPr>
          <a:xfrm>
            <a:off x="6629400" y="1207008"/>
            <a:ext cx="452628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" y="1901952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1783080"/>
            <a:ext cx="51206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7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Създаване на уеб приложение за обработка на изображения.</a:t>
            </a:r>
            <a:endParaRPr lang="en-US" sz="1870" dirty="0"/>
          </a:p>
        </p:txBody>
      </p:sp>
      <p:sp>
        <p:nvSpPr>
          <p:cNvPr id="9" name="Shape 6"/>
          <p:cNvSpPr/>
          <p:nvPr/>
        </p:nvSpPr>
        <p:spPr>
          <a:xfrm>
            <a:off x="804672" y="2505456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8992" y="2386584"/>
            <a:ext cx="51206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7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Качване и обработка на множество изображения наведнъж.</a:t>
            </a:r>
            <a:endParaRPr lang="en-US" sz="1870" dirty="0"/>
          </a:p>
        </p:txBody>
      </p:sp>
      <p:sp>
        <p:nvSpPr>
          <p:cNvPr id="11" name="Shape 8"/>
          <p:cNvSpPr/>
          <p:nvPr/>
        </p:nvSpPr>
        <p:spPr>
          <a:xfrm>
            <a:off x="804672" y="3108960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990088"/>
            <a:ext cx="51206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7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Добавяне на воден знак – текст или лого.</a:t>
            </a:r>
            <a:endParaRPr lang="en-US" sz="1870" dirty="0"/>
          </a:p>
        </p:txBody>
      </p:sp>
      <p:sp>
        <p:nvSpPr>
          <p:cNvPr id="13" name="Shape 10"/>
          <p:cNvSpPr/>
          <p:nvPr/>
        </p:nvSpPr>
        <p:spPr>
          <a:xfrm>
            <a:off x="804672" y="3712464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3593592"/>
            <a:ext cx="51206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7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Оразмеряване до стандартна резолюция Full HD.</a:t>
            </a:r>
            <a:endParaRPr lang="en-US" sz="1870" dirty="0"/>
          </a:p>
        </p:txBody>
      </p:sp>
      <p:sp>
        <p:nvSpPr>
          <p:cNvPr id="15" name="Shape 12"/>
          <p:cNvSpPr/>
          <p:nvPr/>
        </p:nvSpPr>
        <p:spPr>
          <a:xfrm>
            <a:off x="804672" y="4315968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78992" y="4197096"/>
            <a:ext cx="51206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7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Генериране на готов резултат за изтегляне.</a:t>
            </a:r>
            <a:endParaRPr lang="en-US" sz="1870" dirty="0"/>
          </a:p>
        </p:txBody>
      </p:sp>
      <p:sp>
        <p:nvSpPr>
          <p:cNvPr id="18" name="Text 15"/>
          <p:cNvSpPr/>
          <p:nvPr/>
        </p:nvSpPr>
        <p:spPr>
          <a:xfrm>
            <a:off x="1133856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AE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2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3152" y="0"/>
            <a:ext cx="347472" cy="960120"/>
          </a:xfrm>
          <a:prstGeom prst="rect">
            <a:avLst/>
          </a:prstGeom>
          <a:solidFill>
            <a:srgbClr val="C5161D"/>
          </a:solidFill>
          <a:ln w="12700">
            <a:solidFill>
              <a:srgbClr val="C51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56235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5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Основни функции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106424"/>
            <a:ext cx="1143000" cy="0"/>
          </a:xfrm>
          <a:prstGeom prst="line">
            <a:avLst/>
          </a:prstGeom>
          <a:noFill/>
          <a:ln w="38100">
            <a:solidFill>
              <a:srgbClr val="E048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52728"/>
            <a:ext cx="5623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DD9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Какво може да прави приложението</a:t>
            </a:r>
            <a:endParaRPr lang="en-US" sz="1500" dirty="0"/>
          </a:p>
        </p:txBody>
      </p:sp>
      <p:pic>
        <p:nvPicPr>
          <p:cNvPr id="6" name="Image 0" descr="/mnt/data/pptx_extract/ppt/media/image8.png"/>
          <p:cNvPicPr>
            <a:picLocks noChangeAspect="1"/>
          </p:cNvPicPr>
          <p:nvPr/>
        </p:nvPicPr>
        <p:blipFill>
          <a:blip r:embed="rId3"/>
          <a:srcRect l="3000" t="7000" r="-14227" b="7000"/>
          <a:stretch/>
        </p:blipFill>
        <p:spPr>
          <a:xfrm>
            <a:off x="6656832" y="1261872"/>
            <a:ext cx="4434840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" y="1901952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1783080"/>
            <a:ext cx="51206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Качване на много изображения – batch upload.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804672" y="2450592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8992" y="2331720"/>
            <a:ext cx="51206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Оразмеряване до 1920 × 1080 px.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804672" y="2999232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880360"/>
            <a:ext cx="51206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Воден знак чрез текст или лого.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804672" y="3547872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3429000"/>
            <a:ext cx="51206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Избор на </a:t>
            </a:r>
            <a:r>
              <a:rPr lang="en-US" sz="1850" dirty="0" err="1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изходен</a:t>
            </a: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850" dirty="0" err="1" smtClean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формат</a:t>
            </a:r>
            <a:r>
              <a:rPr lang="en-US" sz="1850" dirty="0" smtClean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– JPG / PNG.</a:t>
            </a:r>
            <a:endParaRPr lang="en-US" sz="1850" dirty="0"/>
          </a:p>
        </p:txBody>
      </p:sp>
      <p:sp>
        <p:nvSpPr>
          <p:cNvPr id="15" name="Shape 12"/>
          <p:cNvSpPr/>
          <p:nvPr/>
        </p:nvSpPr>
        <p:spPr>
          <a:xfrm>
            <a:off x="804672" y="4096512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78992" y="3977640"/>
            <a:ext cx="51206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ZIP архив с всички готови файлове.</a:t>
            </a:r>
            <a:endParaRPr lang="en-US" sz="1850" dirty="0"/>
          </a:p>
        </p:txBody>
      </p:sp>
      <p:sp>
        <p:nvSpPr>
          <p:cNvPr id="17" name="Shape 14"/>
          <p:cNvSpPr/>
          <p:nvPr/>
        </p:nvSpPr>
        <p:spPr>
          <a:xfrm>
            <a:off x="804672" y="4645152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78992" y="4526280"/>
            <a:ext cx="51206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Автоматична обработка без ръчна намеса.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1133856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AE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2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3152" y="0"/>
            <a:ext cx="347472" cy="960120"/>
          </a:xfrm>
          <a:prstGeom prst="rect">
            <a:avLst/>
          </a:prstGeom>
          <a:solidFill>
            <a:srgbClr val="C5161D"/>
          </a:solidFill>
          <a:ln w="12700">
            <a:solidFill>
              <a:srgbClr val="C51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56235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5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Входни данни и настройки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106424"/>
            <a:ext cx="1143000" cy="0"/>
          </a:xfrm>
          <a:prstGeom prst="line">
            <a:avLst/>
          </a:prstGeom>
          <a:noFill/>
          <a:ln w="38100">
            <a:solidFill>
              <a:srgbClr val="E048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52728"/>
            <a:ext cx="5623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DD9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Какво избира потребителят преди обработката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04672" y="1901952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1783080"/>
            <a:ext cx="507492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Качване на изображения във формат JPG или PNG.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804672" y="2523744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8992" y="2404872"/>
            <a:ext cx="507492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Настройки за размер – Full HD 1920 × 1080.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804672" y="3145536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3026664"/>
            <a:ext cx="507492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Режим на оразмеряване: fit / crop / pad.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804672" y="3767328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3648456"/>
            <a:ext cx="507492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Настройки за воден знак – позиция, размер и прозрачност.</a:t>
            </a:r>
            <a:endParaRPr lang="en-US" sz="1850" dirty="0"/>
          </a:p>
        </p:txBody>
      </p:sp>
      <p:sp>
        <p:nvSpPr>
          <p:cNvPr id="15" name="Shape 12"/>
          <p:cNvSpPr/>
          <p:nvPr/>
        </p:nvSpPr>
        <p:spPr>
          <a:xfrm>
            <a:off x="804672" y="4389120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78992" y="4270248"/>
            <a:ext cx="507492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Избор на качество и изходен формат.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1133856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AE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855" y="1518082"/>
            <a:ext cx="4944165" cy="26019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2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3152" y="0"/>
            <a:ext cx="347472" cy="960120"/>
          </a:xfrm>
          <a:prstGeom prst="rect">
            <a:avLst/>
          </a:prstGeom>
          <a:solidFill>
            <a:srgbClr val="C5161D"/>
          </a:solidFill>
          <a:ln w="12700">
            <a:solidFill>
              <a:srgbClr val="C51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56235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5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Воден знак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106424"/>
            <a:ext cx="1143000" cy="0"/>
          </a:xfrm>
          <a:prstGeom prst="line">
            <a:avLst/>
          </a:prstGeom>
          <a:noFill/>
          <a:ln w="38100">
            <a:solidFill>
              <a:srgbClr val="E048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52728"/>
            <a:ext cx="5623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DD9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Защита и маркиране на изображения</a:t>
            </a:r>
            <a:endParaRPr lang="en-US" sz="1500" dirty="0"/>
          </a:p>
        </p:txBody>
      </p:sp>
      <p:pic>
        <p:nvPicPr>
          <p:cNvPr id="6" name="Image 0" descr="/mnt/data/pptx_extract/ppt/media/image10.png"/>
          <p:cNvPicPr>
            <a:picLocks noChangeAspect="1"/>
          </p:cNvPicPr>
          <p:nvPr/>
        </p:nvPicPr>
        <p:blipFill>
          <a:blip r:embed="rId3"/>
          <a:srcRect r="28753"/>
          <a:stretch/>
        </p:blipFill>
        <p:spPr>
          <a:xfrm>
            <a:off x="6818051" y="1248999"/>
            <a:ext cx="436006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" y="1901952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1783080"/>
            <a:ext cx="48920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Поддържа текстов воден знак и изображение/лого.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804672" y="2523744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8992" y="2404872"/>
            <a:ext cx="48920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Избор на позиция – ъгли, център или долна част.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804672" y="3145536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3026664"/>
            <a:ext cx="48920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Контрол на прозрачност, размер, цвят и шрифт.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804672" y="3767328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3648456"/>
            <a:ext cx="48920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Прилага се автоматично върху всички изображения.</a:t>
            </a:r>
            <a:endParaRPr lang="en-US" sz="1850" dirty="0"/>
          </a:p>
        </p:txBody>
      </p:sp>
      <p:sp>
        <p:nvSpPr>
          <p:cNvPr id="15" name="Shape 12"/>
          <p:cNvSpPr/>
          <p:nvPr/>
        </p:nvSpPr>
        <p:spPr>
          <a:xfrm>
            <a:off x="804672" y="4389120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78992" y="4270248"/>
            <a:ext cx="48920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Запазва се качеството на оригиналната снимка.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1133856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AE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2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3152" y="0"/>
            <a:ext cx="347472" cy="960120"/>
          </a:xfrm>
          <a:prstGeom prst="rect">
            <a:avLst/>
          </a:prstGeom>
          <a:solidFill>
            <a:srgbClr val="C5161D"/>
          </a:solidFill>
          <a:ln w="12700">
            <a:solidFill>
              <a:srgbClr val="C51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56235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5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Използвани технологии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106424"/>
            <a:ext cx="1143000" cy="0"/>
          </a:xfrm>
          <a:prstGeom prst="line">
            <a:avLst/>
          </a:prstGeom>
          <a:noFill/>
          <a:ln w="38100">
            <a:solidFill>
              <a:srgbClr val="E048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52728"/>
            <a:ext cx="5623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DD9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Софтуерна среда и библиотеки</a:t>
            </a:r>
            <a:endParaRPr lang="en-US" sz="1500" dirty="0"/>
          </a:p>
        </p:txBody>
      </p:sp>
      <p:pic>
        <p:nvPicPr>
          <p:cNvPr id="6" name="Image 0" descr="/mnt/data/pptx_extract/ppt/media/image11.png"/>
          <p:cNvPicPr>
            <a:picLocks noChangeAspect="1"/>
          </p:cNvPicPr>
          <p:nvPr/>
        </p:nvPicPr>
        <p:blipFill>
          <a:blip r:embed="rId3"/>
          <a:srcRect r="11705"/>
          <a:stretch/>
        </p:blipFill>
        <p:spPr>
          <a:xfrm>
            <a:off x="6565392" y="1261872"/>
            <a:ext cx="4526280" cy="34015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" y="1874520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1755648"/>
            <a:ext cx="51206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– основен програмен език.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804672" y="2423160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8992" y="2304288"/>
            <a:ext cx="51206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Django – framework за backend и уеб логика.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804672" y="2971800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852928"/>
            <a:ext cx="51206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Pillow – библиотека за обработка на изображения.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804672" y="3520440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3401568"/>
            <a:ext cx="51206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/ CSS – потребителски интерфейс.</a:t>
            </a:r>
            <a:endParaRPr lang="en-US" sz="1850" dirty="0"/>
          </a:p>
        </p:txBody>
      </p:sp>
      <p:sp>
        <p:nvSpPr>
          <p:cNvPr id="15" name="Shape 12"/>
          <p:cNvSpPr/>
          <p:nvPr/>
        </p:nvSpPr>
        <p:spPr>
          <a:xfrm>
            <a:off x="804672" y="4069080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78992" y="3950208"/>
            <a:ext cx="51206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 – интерактивност при нужда.</a:t>
            </a:r>
            <a:endParaRPr lang="en-US" sz="1850" dirty="0"/>
          </a:p>
        </p:txBody>
      </p:sp>
      <p:sp>
        <p:nvSpPr>
          <p:cNvPr id="17" name="Shape 14"/>
          <p:cNvSpPr/>
          <p:nvPr/>
        </p:nvSpPr>
        <p:spPr>
          <a:xfrm>
            <a:off x="804672" y="4617720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78992" y="4498848"/>
            <a:ext cx="51206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ZIP архивиране и работа с файлове.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1133856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AE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2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3152" y="0"/>
            <a:ext cx="347472" cy="960120"/>
          </a:xfrm>
          <a:prstGeom prst="rect">
            <a:avLst/>
          </a:prstGeom>
          <a:solidFill>
            <a:srgbClr val="C5161D"/>
          </a:solidFill>
          <a:ln w="12700">
            <a:solidFill>
              <a:srgbClr val="C51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56235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5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Принцип на работа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106424"/>
            <a:ext cx="1143000" cy="0"/>
          </a:xfrm>
          <a:prstGeom prst="line">
            <a:avLst/>
          </a:prstGeom>
          <a:noFill/>
          <a:ln w="38100">
            <a:solidFill>
              <a:srgbClr val="E048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52728"/>
            <a:ext cx="5623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DD9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Основният процес от качване до изтегляне</a:t>
            </a:r>
            <a:endParaRPr lang="en-US" sz="1500" dirty="0"/>
          </a:p>
        </p:txBody>
      </p:sp>
      <p:pic>
        <p:nvPicPr>
          <p:cNvPr id="6" name="Image 0" descr="/mnt/data/pptx_extract/ppt/media/image12.png"/>
          <p:cNvPicPr>
            <a:picLocks noChangeAspect="1"/>
          </p:cNvPicPr>
          <p:nvPr/>
        </p:nvPicPr>
        <p:blipFill>
          <a:blip r:embed="rId3"/>
          <a:srcRect r="23743"/>
          <a:stretch/>
        </p:blipFill>
        <p:spPr>
          <a:xfrm>
            <a:off x="6995160" y="1143000"/>
            <a:ext cx="4069080" cy="2788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901952" y="4727448"/>
            <a:ext cx="274320" cy="274320"/>
          </a:xfrm>
          <a:prstGeom prst="chevron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75888" y="4727448"/>
            <a:ext cx="274320" cy="274320"/>
          </a:xfrm>
          <a:prstGeom prst="chevron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49824" y="4727448"/>
            <a:ext cx="274320" cy="274320"/>
          </a:xfrm>
          <a:prstGeom prst="chevron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23760" y="4727448"/>
            <a:ext cx="274320" cy="274320"/>
          </a:xfrm>
          <a:prstGeom prst="chevron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4526280"/>
            <a:ext cx="530352" cy="530352"/>
          </a:xfrm>
          <a:prstGeom prst="ellipse">
            <a:avLst/>
          </a:prstGeom>
          <a:solidFill>
            <a:srgbClr val="66E1D4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8408" y="464515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1C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94360" y="521208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Качване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94360" y="548640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BDD9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JPG / PNG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642616" y="4526280"/>
            <a:ext cx="530352" cy="530352"/>
          </a:xfrm>
          <a:prstGeom prst="ellipse">
            <a:avLst/>
          </a:prstGeom>
          <a:solidFill>
            <a:srgbClr val="66E1D4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52344" y="464515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1C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368296" y="521208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Обработка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2368296" y="548640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BDD9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416552" y="4526280"/>
            <a:ext cx="530352" cy="530352"/>
          </a:xfrm>
          <a:prstGeom prst="ellipse">
            <a:avLst/>
          </a:prstGeom>
          <a:solidFill>
            <a:srgbClr val="66E1D4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26280" y="464515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1C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142232" y="521208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Размер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4142232" y="548640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BDD9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HD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190488" y="4526280"/>
            <a:ext cx="530352" cy="530352"/>
          </a:xfrm>
          <a:prstGeom prst="ellipse">
            <a:avLst/>
          </a:prstGeom>
          <a:solidFill>
            <a:srgbClr val="66E1D4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0216" y="464515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1C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916168" y="521208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Воден знак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5916168" y="548640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BDD9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текст/лого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964424" y="4526280"/>
            <a:ext cx="530352" cy="53035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74152" y="464515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1C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90104" y="521208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Изтегляне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7690104" y="548640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BDD9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ZIP архив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1133856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AE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3d_flat_styled_digital_illustratio_batch_2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02920"/>
            <a:ext cx="56235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5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Валидация и грешки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58368" y="1106424"/>
            <a:ext cx="1143000" cy="0"/>
          </a:xfrm>
          <a:prstGeom prst="line">
            <a:avLst/>
          </a:prstGeom>
          <a:noFill/>
          <a:ln w="38100">
            <a:solidFill>
              <a:srgbClr val="E0484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1252728"/>
            <a:ext cx="5623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DD9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 стабилна и безопасна работа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04672" y="1901952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1783080"/>
            <a:ext cx="525780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 на формата – позволени JPG и PNG файлове.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804672" y="2459736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2340864"/>
            <a:ext cx="525780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Ограничение на размера на качените файлове.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04672" y="3017520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2898648"/>
            <a:ext cx="525780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Откриване на повредени или невалидни изображения.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04672" y="3575304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3456432"/>
            <a:ext cx="525780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Обработка на грешки при конвертиране.</a:t>
            </a:r>
            <a:endParaRPr lang="en-US" sz="1850" dirty="0"/>
          </a:p>
        </p:txBody>
      </p:sp>
      <p:sp>
        <p:nvSpPr>
          <p:cNvPr id="14" name="Shape 11"/>
          <p:cNvSpPr/>
          <p:nvPr/>
        </p:nvSpPr>
        <p:spPr>
          <a:xfrm>
            <a:off x="804672" y="4133088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78992" y="4014216"/>
            <a:ext cx="525780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Показване на ясни съобщения към потребителя.</a:t>
            </a:r>
            <a:endParaRPr lang="en-US" sz="1850" dirty="0"/>
          </a:p>
        </p:txBody>
      </p:sp>
      <p:sp>
        <p:nvSpPr>
          <p:cNvPr id="16" name="Shape 13"/>
          <p:cNvSpPr/>
          <p:nvPr/>
        </p:nvSpPr>
        <p:spPr>
          <a:xfrm>
            <a:off x="804672" y="4690872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78992" y="4572000"/>
            <a:ext cx="525780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Защита срещу неправилни входни данни.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1133856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AE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quality_3d_flat_hybrid_vector_illustration_batch_1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02920"/>
            <a:ext cx="56235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5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Краен резултат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58368" y="1106424"/>
            <a:ext cx="1143000" cy="0"/>
          </a:xfrm>
          <a:prstGeom prst="line">
            <a:avLst/>
          </a:prstGeom>
          <a:noFill/>
          <a:ln w="38100">
            <a:solidFill>
              <a:srgbClr val="E0484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1252728"/>
            <a:ext cx="5623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DD9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Какво получава потребителят след обработката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04672" y="1901952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1783080"/>
            <a:ext cx="507492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Всички изображения са оразмерени по избраните настройки.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804672" y="2523744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2404872"/>
            <a:ext cx="507492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Върху всяка снимка е добавен воден знак.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04672" y="3145536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3026664"/>
            <a:ext cx="507492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Файловете са конвертирани в избрания формат.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04672" y="3767328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3648456"/>
            <a:ext cx="507492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Системата генерира ZIP архив за изтегляне.</a:t>
            </a:r>
            <a:endParaRPr lang="en-US" sz="1850" dirty="0"/>
          </a:p>
        </p:txBody>
      </p:sp>
      <p:sp>
        <p:nvSpPr>
          <p:cNvPr id="14" name="Shape 11"/>
          <p:cNvSpPr/>
          <p:nvPr/>
        </p:nvSpPr>
        <p:spPr>
          <a:xfrm>
            <a:off x="804672" y="4389120"/>
            <a:ext cx="118872" cy="118872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78992" y="4270248"/>
            <a:ext cx="507492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Процесът е бърз и не изисква ръчна обработка.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1133856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AE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2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3152" y="0"/>
            <a:ext cx="347472" cy="960120"/>
          </a:xfrm>
          <a:prstGeom prst="rect">
            <a:avLst/>
          </a:prstGeom>
          <a:solidFill>
            <a:srgbClr val="C5161D"/>
          </a:solidFill>
          <a:ln w="12700">
            <a:solidFill>
              <a:srgbClr val="C51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56235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5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Демонстрация пред комисията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106424"/>
            <a:ext cx="1143000" cy="0"/>
          </a:xfrm>
          <a:prstGeom prst="line">
            <a:avLst/>
          </a:prstGeom>
          <a:noFill/>
          <a:ln w="38100">
            <a:solidFill>
              <a:srgbClr val="E048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52728"/>
            <a:ext cx="5623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DD9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Кои екрани е добре да бъдат показани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4672" y="1828800"/>
            <a:ext cx="420624" cy="420624"/>
          </a:xfrm>
          <a:prstGeom prst="ellipse">
            <a:avLst/>
          </a:prstGeom>
          <a:solidFill>
            <a:srgbClr val="66E1D4"/>
          </a:solidFill>
          <a:ln w="12700">
            <a:solidFill>
              <a:srgbClr val="66E1D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9293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C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810512"/>
            <a:ext cx="45537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F5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Начален екран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371600" y="2130552"/>
            <a:ext cx="45537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DD9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 за качване и настройки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" y="2761488"/>
            <a:ext cx="420624" cy="420624"/>
          </a:xfrm>
          <a:prstGeom prst="ellipse">
            <a:avLst/>
          </a:prstGeom>
          <a:solidFill>
            <a:srgbClr val="66E1D4"/>
          </a:solidFill>
          <a:ln w="12700">
            <a:solidFill>
              <a:srgbClr val="66E1D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28620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C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743200"/>
            <a:ext cx="45537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F5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Избор на воден знак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371600" y="3063240"/>
            <a:ext cx="45537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DD9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текст или лого, позиция и прозрачност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" y="3694176"/>
            <a:ext cx="420624" cy="420624"/>
          </a:xfrm>
          <a:prstGeom prst="ellipse">
            <a:avLst/>
          </a:prstGeom>
          <a:solidFill>
            <a:srgbClr val="66E1D4"/>
          </a:solidFill>
          <a:ln w="12700">
            <a:solidFill>
              <a:srgbClr val="66E1D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" y="37947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C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3675888"/>
            <a:ext cx="45537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F5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Обработка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371600" y="3995928"/>
            <a:ext cx="45537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DD9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съобщение, че файловете се обработват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04672" y="4626864"/>
            <a:ext cx="420624" cy="420624"/>
          </a:xfrm>
          <a:prstGeom prst="ellipse">
            <a:avLst/>
          </a:prstGeom>
          <a:solidFill>
            <a:srgbClr val="E0484F"/>
          </a:solidFill>
          <a:ln w="12700">
            <a:solidFill>
              <a:srgbClr val="E0484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" y="47274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C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4608576"/>
            <a:ext cx="45537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F5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Резултат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371600" y="4928616"/>
            <a:ext cx="45537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DD9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преглед и бутон за ZIP архив</a:t>
            </a:r>
            <a:endParaRPr lang="en-US" sz="1350" dirty="0"/>
          </a:p>
        </p:txBody>
      </p:sp>
      <p:pic>
        <p:nvPicPr>
          <p:cNvPr id="22" name="Image 0" descr="/mnt/data/pptx_extract/ppt/media/image9.png"/>
          <p:cNvPicPr>
            <a:picLocks noChangeAspect="1"/>
          </p:cNvPicPr>
          <p:nvPr/>
        </p:nvPicPr>
        <p:blipFill>
          <a:blip r:embed="rId3"/>
          <a:srcRect l="2000" r="3006" b="10000"/>
          <a:stretch/>
        </p:blipFill>
        <p:spPr>
          <a:xfrm>
            <a:off x="6565392" y="1389888"/>
            <a:ext cx="4343400" cy="306324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565392" y="4800600"/>
            <a:ext cx="4343400" cy="713232"/>
          </a:xfrm>
          <a:prstGeom prst="roundRect">
            <a:avLst/>
          </a:prstGeom>
          <a:solidFill>
            <a:srgbClr val="073C46">
              <a:alpha val="92000"/>
            </a:srgbClr>
          </a:solidFill>
          <a:ln w="12700">
            <a:solidFill>
              <a:srgbClr val="2C7E87">
                <a:alpha val="3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84848" y="4946904"/>
            <a:ext cx="39044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Интерфейс за качване на файлове и проследяване на процеса.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1133856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AE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resentation_graphic_design_backgro_batch_3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89320" y="960120"/>
            <a:ext cx="4754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Заключение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007608" y="1572768"/>
            <a:ext cx="1554480" cy="0"/>
          </a:xfrm>
          <a:prstGeom prst="line">
            <a:avLst/>
          </a:prstGeom>
          <a:noFill/>
          <a:ln w="50800">
            <a:solidFill>
              <a:srgbClr val="E0484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16752" y="2084832"/>
            <a:ext cx="516636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5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Създаденото приложение улеснява обработката на голям брой изображения, добавя воден знак и предоставя готови файлове за изтегляне.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16752" y="5047488"/>
            <a:ext cx="5166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66E1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Благодаря за вниманието!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1133856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AE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755</Words>
  <Application>Microsoft Office PowerPoint</Application>
  <PresentationFormat>Widescreen</PresentationFormat>
  <Paragraphs>142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Конвертор на изображения и воден знак</dc:title>
  <dc:subject>Конвертор на изображения и воден знак</dc:subject>
  <dc:creator>OpenAI</dc:creator>
  <cp:lastModifiedBy>admin</cp:lastModifiedBy>
  <cp:revision>17</cp:revision>
  <dcterms:created xsi:type="dcterms:W3CDTF">2026-04-30T05:13:11Z</dcterms:created>
  <dcterms:modified xsi:type="dcterms:W3CDTF">2026-05-07T08:07:23Z</dcterms:modified>
</cp:coreProperties>
</file>